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6" r:id="rId3"/>
    <p:sldId id="267" r:id="rId4"/>
    <p:sldId id="262" r:id="rId5"/>
    <p:sldId id="268" r:id="rId6"/>
    <p:sldId id="273" r:id="rId7"/>
    <p:sldId id="270" r:id="rId8"/>
    <p:sldId id="269" r:id="rId9"/>
    <p:sldId id="258" r:id="rId10"/>
    <p:sldId id="274" r:id="rId11"/>
    <p:sldId id="271" r:id="rId12"/>
    <p:sldId id="272" r:id="rId13"/>
    <p:sldId id="265" r:id="rId14"/>
  </p:sldIdLst>
  <p:sldSz cx="18288000" cy="10287000"/>
  <p:notesSz cx="6858000" cy="9144000"/>
  <p:embeddedFontLst>
    <p:embeddedFont>
      <p:font typeface="B Titr" panose="00000700000000000000" pitchFamily="2" charset="-78"/>
      <p:bold r:id="rId15"/>
    </p:embeddedFont>
    <p:embeddedFont>
      <p:font typeface="Bungee" panose="020B0604020202020204" charset="0"/>
      <p:regular r:id="rId16"/>
    </p:embeddedFont>
    <p:embeddedFont>
      <p:font typeface="Cambria Math" panose="02040503050406030204" pitchFamily="18" charset="0"/>
      <p:regular r:id="rId17"/>
    </p:embeddedFont>
    <p:embeddedFont>
      <p:font typeface="Krub" panose="00000500000000000000" pitchFamily="2" charset="-34"/>
      <p:regular r:id="rId18"/>
      <p:bold r:id="rId19"/>
      <p:italic r:id="rId20"/>
      <p:boldItalic r:id="rId21"/>
    </p:embeddedFont>
    <p:embeddedFont>
      <p:font typeface="Krub Bold" panose="00000800000000000000" charset="-3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79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5.svg"/><Relationship Id="rId7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5.sv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5.sv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22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5.sv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5.sv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4.png"/><Relationship Id="rId7" Type="http://schemas.openxmlformats.org/officeDocument/2006/relationships/image" Target="../media/image1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5.svg"/><Relationship Id="rId7" Type="http://schemas.openxmlformats.org/officeDocument/2006/relationships/image" Target="../media/image2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11.svg"/><Relationship Id="rId10" Type="http://schemas.openxmlformats.org/officeDocument/2006/relationships/image" Target="../media/image32.png"/><Relationship Id="rId4" Type="http://schemas.openxmlformats.org/officeDocument/2006/relationships/image" Target="../media/image10.png"/><Relationship Id="rId9" Type="http://schemas.openxmlformats.org/officeDocument/2006/relationships/image" Target="../media/image31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1.svg"/><Relationship Id="rId12" Type="http://schemas.openxmlformats.org/officeDocument/2006/relationships/image" Target="../media/image3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0.png"/><Relationship Id="rId11" Type="http://schemas.openxmlformats.org/officeDocument/2006/relationships/image" Target="../media/image31.svg"/><Relationship Id="rId5" Type="http://schemas.openxmlformats.org/officeDocument/2006/relationships/image" Target="../media/image15.svg"/><Relationship Id="rId10" Type="http://schemas.openxmlformats.org/officeDocument/2006/relationships/image" Target="../media/image30.png"/><Relationship Id="rId4" Type="http://schemas.openxmlformats.org/officeDocument/2006/relationships/image" Target="../media/image14.png"/><Relationship Id="rId9" Type="http://schemas.openxmlformats.org/officeDocument/2006/relationships/image" Target="../media/image29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652638" y="-7239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29" y="0"/>
                </a:lnTo>
                <a:lnTo>
                  <a:pt x="40624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208884" y="7041092"/>
            <a:ext cx="5174922" cy="5172766"/>
          </a:xfrm>
          <a:custGeom>
            <a:avLst/>
            <a:gdLst/>
            <a:ahLst/>
            <a:cxnLst/>
            <a:rect l="l" t="t" r="r" b="b"/>
            <a:pathLst>
              <a:path w="5174922" h="5172766">
                <a:moveTo>
                  <a:pt x="0" y="0"/>
                </a:moveTo>
                <a:lnTo>
                  <a:pt x="5174923" y="0"/>
                </a:lnTo>
                <a:lnTo>
                  <a:pt x="5174923" y="5172766"/>
                </a:lnTo>
                <a:lnTo>
                  <a:pt x="0" y="51727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322918" y="4783378"/>
            <a:ext cx="6733446" cy="7030847"/>
          </a:xfrm>
          <a:custGeom>
            <a:avLst/>
            <a:gdLst/>
            <a:ahLst/>
            <a:cxnLst/>
            <a:rect l="l" t="t" r="r" b="b"/>
            <a:pathLst>
              <a:path w="6733446" h="7030847">
                <a:moveTo>
                  <a:pt x="0" y="0"/>
                </a:moveTo>
                <a:lnTo>
                  <a:pt x="6733447" y="0"/>
                </a:lnTo>
                <a:lnTo>
                  <a:pt x="6733447" y="7030846"/>
                </a:lnTo>
                <a:lnTo>
                  <a:pt x="0" y="70308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882600" y="-1557683"/>
            <a:ext cx="5174922" cy="5172766"/>
          </a:xfrm>
          <a:custGeom>
            <a:avLst/>
            <a:gdLst/>
            <a:ahLst/>
            <a:cxnLst/>
            <a:rect l="l" t="t" r="r" b="b"/>
            <a:pathLst>
              <a:path w="5174922" h="5172766">
                <a:moveTo>
                  <a:pt x="0" y="0"/>
                </a:moveTo>
                <a:lnTo>
                  <a:pt x="5174922" y="0"/>
                </a:lnTo>
                <a:lnTo>
                  <a:pt x="5174922" y="5172766"/>
                </a:lnTo>
                <a:lnTo>
                  <a:pt x="0" y="51727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4895500" y="4610100"/>
            <a:ext cx="7772402" cy="4191000"/>
            <a:chOff x="0" y="0"/>
            <a:chExt cx="1303966" cy="23185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03966" cy="231851"/>
            </a:xfrm>
            <a:custGeom>
              <a:avLst/>
              <a:gdLst/>
              <a:ahLst/>
              <a:cxnLst/>
              <a:rect l="l" t="t" r="r" b="b"/>
              <a:pathLst>
                <a:path w="1303966" h="231851">
                  <a:moveTo>
                    <a:pt x="79163" y="0"/>
                  </a:moveTo>
                  <a:lnTo>
                    <a:pt x="1224803" y="0"/>
                  </a:lnTo>
                  <a:cubicBezTo>
                    <a:pt x="1268523" y="0"/>
                    <a:pt x="1303966" y="35442"/>
                    <a:pt x="1303966" y="79163"/>
                  </a:cubicBezTo>
                  <a:lnTo>
                    <a:pt x="1303966" y="152689"/>
                  </a:lnTo>
                  <a:cubicBezTo>
                    <a:pt x="1303966" y="173684"/>
                    <a:pt x="1295625" y="193819"/>
                    <a:pt x="1280779" y="208665"/>
                  </a:cubicBezTo>
                  <a:cubicBezTo>
                    <a:pt x="1265933" y="223511"/>
                    <a:pt x="1245798" y="231851"/>
                    <a:pt x="1224803" y="231851"/>
                  </a:cubicBezTo>
                  <a:lnTo>
                    <a:pt x="79163" y="231851"/>
                  </a:lnTo>
                  <a:cubicBezTo>
                    <a:pt x="58168" y="231851"/>
                    <a:pt x="38032" y="223511"/>
                    <a:pt x="23186" y="208665"/>
                  </a:cubicBezTo>
                  <a:cubicBezTo>
                    <a:pt x="8340" y="193819"/>
                    <a:pt x="0" y="173684"/>
                    <a:pt x="0" y="152689"/>
                  </a:cubicBezTo>
                  <a:lnTo>
                    <a:pt x="0" y="79163"/>
                  </a:lnTo>
                  <a:cubicBezTo>
                    <a:pt x="0" y="58168"/>
                    <a:pt x="8340" y="38032"/>
                    <a:pt x="23186" y="23186"/>
                  </a:cubicBezTo>
                  <a:cubicBezTo>
                    <a:pt x="38032" y="8340"/>
                    <a:pt x="58168" y="0"/>
                    <a:pt x="7916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D8BBA">
                    <a:alpha val="100000"/>
                  </a:srgbClr>
                </a:gs>
                <a:gs pos="100000">
                  <a:srgbClr val="192385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03966" cy="269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00712" y="-1889926"/>
            <a:ext cx="4420195" cy="4114800"/>
          </a:xfrm>
          <a:custGeom>
            <a:avLst/>
            <a:gdLst/>
            <a:ahLst/>
            <a:cxnLst/>
            <a:rect l="l" t="t" r="r" b="b"/>
            <a:pathLst>
              <a:path w="4420195" h="4114800">
                <a:moveTo>
                  <a:pt x="0" y="0"/>
                </a:moveTo>
                <a:lnTo>
                  <a:pt x="4420195" y="0"/>
                </a:lnTo>
                <a:lnTo>
                  <a:pt x="44201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6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521671" y="4689956"/>
            <a:ext cx="6520059" cy="39932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66"/>
              </a:lnSpc>
            </a:pPr>
            <a:r>
              <a:rPr lang="fa-IR" sz="2400" b="1" spc="50" dirty="0">
                <a:solidFill>
                  <a:srgbClr val="FFFFFF"/>
                </a:solidFill>
                <a:latin typeface="Krub Bold"/>
                <a:ea typeface="Krub Bold"/>
                <a:cs typeface="B Nazanin" panose="00000400000000000000" pitchFamily="2" charset="-78"/>
                <a:sym typeface="Krub Bold"/>
              </a:rPr>
              <a:t>ارا</a:t>
            </a:r>
            <a:r>
              <a:rPr lang="fa-IR" sz="2800" b="1" spc="50" dirty="0">
                <a:solidFill>
                  <a:srgbClr val="FFFFFF"/>
                </a:solidFill>
                <a:latin typeface="+mj-lt"/>
                <a:ea typeface="Krub Bold"/>
                <a:cs typeface="B Nazanin" panose="00000400000000000000" pitchFamily="2" charset="-78"/>
                <a:sym typeface="Krub Bold"/>
              </a:rPr>
              <a:t>ئه دهندگان:</a:t>
            </a:r>
            <a:r>
              <a:rPr lang="fa-IR" sz="4000" b="1" spc="50" dirty="0">
                <a:solidFill>
                  <a:srgbClr val="FFFFFF"/>
                </a:solidFill>
                <a:latin typeface="+mj-lt"/>
                <a:ea typeface="Krub Bold"/>
                <a:cs typeface="B Nazanin" panose="00000400000000000000" pitchFamily="2" charset="-78"/>
                <a:sym typeface="Krub Bold"/>
              </a:rPr>
              <a:t> </a:t>
            </a:r>
          </a:p>
          <a:p>
            <a:pPr algn="ctr">
              <a:lnSpc>
                <a:spcPts val="6366"/>
              </a:lnSpc>
            </a:pPr>
            <a:r>
              <a:rPr lang="fa-IR" sz="2800" b="1" spc="50" dirty="0">
                <a:solidFill>
                  <a:srgbClr val="FFFFFF"/>
                </a:solidFill>
                <a:latin typeface="+mj-lt"/>
                <a:ea typeface="Krub Bold"/>
                <a:cs typeface="B Nazanin" panose="00000400000000000000" pitchFamily="2" charset="-78"/>
                <a:sym typeface="Krub Bold"/>
              </a:rPr>
              <a:t>محمدحسین ملانوری شمسی-امیرحسین اشکیانی</a:t>
            </a:r>
          </a:p>
          <a:p>
            <a:pPr algn="ctr">
              <a:lnSpc>
                <a:spcPts val="6366"/>
              </a:lnSpc>
            </a:pPr>
            <a:r>
              <a:rPr lang="fa-IR" sz="2800" b="1" spc="50" dirty="0">
                <a:solidFill>
                  <a:srgbClr val="FFFFFF"/>
                </a:solidFill>
                <a:latin typeface="+mj-lt"/>
                <a:ea typeface="Krub Bold"/>
                <a:cs typeface="B Nazanin" panose="00000400000000000000" pitchFamily="2" charset="-78"/>
                <a:sym typeface="Krub Bold"/>
              </a:rPr>
              <a:t>استاد :</a:t>
            </a:r>
          </a:p>
          <a:p>
            <a:pPr algn="ctr">
              <a:lnSpc>
                <a:spcPts val="6366"/>
              </a:lnSpc>
            </a:pPr>
            <a:r>
              <a:rPr lang="fa-IR" sz="2800" b="1" spc="50" dirty="0">
                <a:solidFill>
                  <a:srgbClr val="FFFFFF"/>
                </a:solidFill>
                <a:latin typeface="+mj-lt"/>
                <a:ea typeface="Krub Bold"/>
                <a:cs typeface="B Nazanin" panose="00000400000000000000" pitchFamily="2" charset="-78"/>
                <a:sym typeface="Krub Bold"/>
              </a:rPr>
              <a:t>دکتر تقی راد</a:t>
            </a:r>
            <a:endParaRPr lang="en-US" sz="2800" b="1" spc="50" dirty="0">
              <a:solidFill>
                <a:srgbClr val="FFFFFF"/>
              </a:solidFill>
              <a:latin typeface="+mj-lt"/>
              <a:ea typeface="Krub Bold"/>
              <a:cs typeface="B Nazanin" panose="00000400000000000000" pitchFamily="2" charset="-78"/>
              <a:sym typeface="Krub Bold"/>
            </a:endParaRPr>
          </a:p>
          <a:p>
            <a:pPr algn="ctr">
              <a:lnSpc>
                <a:spcPts val="6366"/>
              </a:lnSpc>
            </a:pPr>
            <a:r>
              <a:rPr lang="fa-IR" sz="2800" b="1" spc="50" dirty="0">
                <a:solidFill>
                  <a:srgbClr val="FFFFFF"/>
                </a:solidFill>
                <a:latin typeface="+mj-lt"/>
                <a:ea typeface="Krub Bold"/>
                <a:cs typeface="B Nazanin" panose="00000400000000000000" pitchFamily="2" charset="-78"/>
                <a:sym typeface="Krub Bold"/>
              </a:rPr>
              <a:t>بهمن ماه 1404</a:t>
            </a:r>
            <a:endParaRPr lang="en-US" sz="2800" b="1" spc="50" dirty="0">
              <a:solidFill>
                <a:srgbClr val="FFFFFF"/>
              </a:solidFill>
              <a:latin typeface="+mj-lt"/>
              <a:ea typeface="Krub Bold"/>
              <a:cs typeface="B Nazanin" panose="00000400000000000000" pitchFamily="2" charset="-78"/>
              <a:sym typeface="Krub Bol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976402" y="3145948"/>
            <a:ext cx="1021946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6600" dirty="0">
                <a:ea typeface="Calibri" panose="020F0502020204030204" pitchFamily="34" charset="0"/>
                <a:cs typeface="B Titr" panose="00000700000000000000" pitchFamily="2" charset="-78"/>
              </a:rPr>
              <a:t>طراح</a:t>
            </a:r>
            <a:r>
              <a:rPr lang="ar-SA" sz="6600" dirty="0">
                <a:latin typeface="Calibri" panose="020F050202020403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ی سیستم کنترل سطح مخزن </a:t>
            </a:r>
            <a:endParaRPr lang="en-US" sz="6600" dirty="0">
              <a:cs typeface="B Titr" panose="00000700000000000000" pitchFamily="2" charset="-78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B1D594-062E-E0F7-B5FA-C9243885BF2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1181" y="167474"/>
            <a:ext cx="2787882" cy="27878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6283C36-556C-190A-7EF0-A83DE9F48A0B}"/>
              </a:ext>
            </a:extLst>
          </p:cNvPr>
          <p:cNvSpPr txBox="1"/>
          <p:nvPr/>
        </p:nvSpPr>
        <p:spPr>
          <a:xfrm>
            <a:off x="-914400" y="1670074"/>
            <a:ext cx="11132126" cy="1109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r" rtl="1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0" marR="0" indent="457200" algn="r" rtl="1">
              <a:lnSpc>
                <a:spcPct val="115000"/>
              </a:lnSpc>
              <a:spcAft>
                <a:spcPts val="800"/>
              </a:spcAft>
              <a:buNone/>
            </a:pPr>
            <a:r>
              <a:rPr lang="ar-SA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به نام خدا</a:t>
            </a:r>
            <a:endParaRPr lang="en-US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94" t="31650" r="33333" b="17172"/>
          <a:stretch/>
        </p:blipFill>
        <p:spPr>
          <a:xfrm>
            <a:off x="1877291" y="3771900"/>
            <a:ext cx="9027955" cy="49719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90800" y="1305213"/>
            <a:ext cx="11049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4000" dirty="0">
                <a:cs typeface="B Titr" panose="00000700000000000000" pitchFamily="2" charset="-78"/>
              </a:rPr>
              <a:t>تحلیل و شناسایی سیستم کنترل تانکر آب </a:t>
            </a:r>
            <a:endParaRPr lang="en-US" sz="4000" dirty="0">
              <a:cs typeface="B Titr" panose="00000700000000000000" pitchFamily="2" charset="-78"/>
            </a:endParaRPr>
          </a:p>
        </p:txBody>
      </p:sp>
      <p:sp>
        <p:nvSpPr>
          <p:cNvPr id="34" name="Freeform 6"/>
          <p:cNvSpPr/>
          <p:nvPr/>
        </p:nvSpPr>
        <p:spPr>
          <a:xfrm>
            <a:off x="-2703964" y="811530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8"/>
          <p:cNvSpPr/>
          <p:nvPr/>
        </p:nvSpPr>
        <p:spPr>
          <a:xfrm flipH="1" flipV="1">
            <a:off x="11963400" y="16329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11611-E090-5F36-3519-6DBA12C8106D}"/>
              </a:ext>
            </a:extLst>
          </p:cNvPr>
          <p:cNvSpPr txBox="1"/>
          <p:nvPr/>
        </p:nvSpPr>
        <p:spPr>
          <a:xfrm>
            <a:off x="1295400" y="2439789"/>
            <a:ext cx="10903526" cy="571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r" rtl="1">
              <a:lnSpc>
                <a:spcPct val="115000"/>
              </a:lnSpc>
              <a:spcAft>
                <a:spcPts val="800"/>
              </a:spcAft>
              <a:buNone/>
            </a:pPr>
            <a:r>
              <a:rPr lang="ar-SA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تحلیل داده های 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workspace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D5DF201-B4F6-71E6-959A-C685014FD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545" y="2488264"/>
            <a:ext cx="4419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Estimated Gain (K): 0.051 </a:t>
            </a:r>
            <a:endParaRPr kumimoji="0" lang="en-US" altLang="en-US" sz="4000" b="0" i="0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C169DF6-C432-16DE-564A-6E9D34A52930}"/>
                  </a:ext>
                </a:extLst>
              </p:cNvPr>
              <p:cNvSpPr txBox="1"/>
              <p:nvPr/>
            </p:nvSpPr>
            <p:spPr>
              <a:xfrm>
                <a:off x="8603674" y="5595923"/>
                <a:ext cx="11582400" cy="1144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3600" b="0" smtClean="0"/>
                        <m:t>Slope</m:t>
                      </m:r>
                      <m:r>
                        <a:rPr lang="en-US" sz="36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3600" b="0" i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3600" b="0" i="1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3600" b="0" i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36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3600" b="0" i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3600" b="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3600" b="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600" b="0" i="0">
                          <a:latin typeface="Cambria Math" panose="02040503050406030204" pitchFamily="18" charset="0"/>
                        </a:rPr>
                        <m:t>05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C169DF6-C432-16DE-564A-6E9D34A52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3674" y="5595923"/>
                <a:ext cx="11582400" cy="114415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24147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-2078885" y="-10287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828710" y="822960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434015" y="7458821"/>
            <a:ext cx="5924025" cy="4546689"/>
          </a:xfrm>
          <a:custGeom>
            <a:avLst/>
            <a:gdLst/>
            <a:ahLst/>
            <a:cxnLst/>
            <a:rect l="l" t="t" r="r" b="b"/>
            <a:pathLst>
              <a:path w="5924025" h="4546689">
                <a:moveTo>
                  <a:pt x="0" y="0"/>
                </a:moveTo>
                <a:lnTo>
                  <a:pt x="5924025" y="0"/>
                </a:lnTo>
                <a:lnTo>
                  <a:pt x="5924025" y="4546690"/>
                </a:lnTo>
                <a:lnTo>
                  <a:pt x="0" y="45466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13434014" y="-134354"/>
            <a:ext cx="5320175" cy="2991853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" name="TextBox 1"/>
          <p:cNvSpPr txBox="1"/>
          <p:nvPr/>
        </p:nvSpPr>
        <p:spPr>
          <a:xfrm>
            <a:off x="3724836" y="1587590"/>
            <a:ext cx="10439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4000" dirty="0">
                <a:cs typeface="B Titr" panose="00000700000000000000" pitchFamily="2" charset="-78"/>
              </a:rPr>
              <a:t>استخراج معادلات دینامیکی و پیاده‌سازی در سیمولینک</a:t>
            </a:r>
            <a:endParaRPr lang="en-US" sz="4000" dirty="0">
              <a:cs typeface="B Titr" panose="00000700000000000000" pitchFamily="2" charset="-7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91000" y="2925662"/>
            <a:ext cx="10343850" cy="2421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ar-SA" sz="2400" kern="100" dirty="0">
                <a:latin typeface="Calibri" panose="020F050202020403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قانون بقای جرم: نرخ تغییر حجم برابر است با دبی ورودی منهای دبی خروجی  </a:t>
            </a:r>
            <a:endParaRPr lang="en-US" sz="2400" kern="100" dirty="0">
              <a:latin typeface="Calibri" panose="020F0502020204030204" pitchFamily="34" charset="0"/>
              <a:ea typeface="Calibri" panose="020F0502020204030204" pitchFamily="34" charset="0"/>
              <a:cs typeface="B Titr" panose="00000700000000000000" pitchFamily="2" charset="-78"/>
            </a:endParaRPr>
          </a:p>
          <a:p>
            <a:pPr marL="342900" indent="-342900" algn="r" rtl="1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ar-SA" sz="2400" kern="100" dirty="0">
                <a:latin typeface="Calibri" panose="020F050202020403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 رابطه غیرخطی خروجی: بر اساس قانون برنولی، دبی خروجی تابعی از جذر ارتفاع است  </a:t>
            </a:r>
            <a:endParaRPr lang="en-US" sz="2400" kern="100" dirty="0">
              <a:latin typeface="Calibri" panose="020F0502020204030204" pitchFamily="34" charset="0"/>
              <a:ea typeface="Calibri" panose="020F0502020204030204" pitchFamily="34" charset="0"/>
              <a:cs typeface="B Titr" panose="00000700000000000000" pitchFamily="2" charset="-78"/>
            </a:endParaRPr>
          </a:p>
          <a:p>
            <a:pPr marL="342900" indent="-342900" algn="r" rtl="1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ar-SA" sz="2400" kern="100" dirty="0">
                <a:latin typeface="Calibri" panose="020F050202020403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معادله دیفرانسیل غیرخطی حاکم بر سیستم</a:t>
            </a:r>
            <a:endParaRPr lang="en-US" sz="2400" kern="100" dirty="0">
              <a:latin typeface="Calibri" panose="020F0502020204030204" pitchFamily="34" charset="0"/>
              <a:ea typeface="Calibri" panose="020F0502020204030204" pitchFamily="34" charset="0"/>
              <a:cs typeface="B Titr" panose="00000700000000000000" pitchFamily="2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92" t="55219" r="38065" b="31313"/>
          <a:stretch/>
        </p:blipFill>
        <p:spPr>
          <a:xfrm>
            <a:off x="5484362" y="5829300"/>
            <a:ext cx="6095998" cy="1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0991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-2078885" y="-10287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828710" y="822960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434015" y="7458821"/>
            <a:ext cx="5924025" cy="4546689"/>
          </a:xfrm>
          <a:custGeom>
            <a:avLst/>
            <a:gdLst/>
            <a:ahLst/>
            <a:cxnLst/>
            <a:rect l="l" t="t" r="r" b="b"/>
            <a:pathLst>
              <a:path w="5924025" h="4546689">
                <a:moveTo>
                  <a:pt x="0" y="0"/>
                </a:moveTo>
                <a:lnTo>
                  <a:pt x="5924025" y="0"/>
                </a:lnTo>
                <a:lnTo>
                  <a:pt x="5924025" y="4546690"/>
                </a:lnTo>
                <a:lnTo>
                  <a:pt x="0" y="45466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261453" y="-505617"/>
            <a:ext cx="3486358" cy="4114800"/>
          </a:xfrm>
          <a:custGeom>
            <a:avLst/>
            <a:gdLst/>
            <a:ahLst/>
            <a:cxnLst/>
            <a:rect l="l" t="t" r="r" b="b"/>
            <a:pathLst>
              <a:path w="3486358" h="4114800">
                <a:moveTo>
                  <a:pt x="0" y="0"/>
                </a:moveTo>
                <a:lnTo>
                  <a:pt x="3486357" y="0"/>
                </a:lnTo>
                <a:lnTo>
                  <a:pt x="3486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004813" y="1480743"/>
            <a:ext cx="7235371" cy="7886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ar-SA" sz="4000" dirty="0">
                <a:latin typeface="Calibri" panose="020F050202020403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خطی‌سازی معادلات</a:t>
            </a:r>
            <a:r>
              <a:rPr lang="ar-SA" sz="40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endParaRPr lang="en-US" sz="4000" dirty="0">
              <a:solidFill>
                <a:srgbClr val="090147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623835" y="3563297"/>
            <a:ext cx="4083401" cy="33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endParaRPr lang="en-US" sz="1995" spc="21" dirty="0">
              <a:solidFill>
                <a:srgbClr val="FFFFFF"/>
              </a:solidFill>
              <a:latin typeface="Krub"/>
              <a:ea typeface="Krub"/>
              <a:cs typeface="Krub"/>
              <a:sym typeface="Krub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48200" y="2802110"/>
            <a:ext cx="977798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ar-IQ" sz="2400" dirty="0">
                <a:cs typeface="B Titr" panose="00000700000000000000" pitchFamily="2" charset="-78"/>
              </a:rPr>
              <a:t>نقطه کار </a:t>
            </a:r>
            <a:endParaRPr lang="fa-IR" sz="2400" dirty="0">
              <a:cs typeface="B Titr" panose="00000700000000000000" pitchFamily="2" charset="-78"/>
            </a:endParaRPr>
          </a:p>
          <a:p>
            <a:pPr marL="457200" indent="-4572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ar-IQ" sz="2400" dirty="0">
                <a:cs typeface="B Titr" panose="00000700000000000000" pitchFamily="2" charset="-78"/>
              </a:rPr>
              <a:t>خطی‌سازی معادله </a:t>
            </a:r>
            <a:endParaRPr lang="fa-IR" sz="2400" dirty="0">
              <a:cs typeface="B Titr" panose="00000700000000000000" pitchFamily="2" charset="-78"/>
            </a:endParaRPr>
          </a:p>
          <a:p>
            <a:pPr marL="457200" indent="-4572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ar-IQ" sz="2400" dirty="0">
                <a:cs typeface="B Titr" panose="00000700000000000000" pitchFamily="2" charset="-78"/>
              </a:rPr>
              <a:t>تابع تبدیل نهایی </a:t>
            </a:r>
            <a:endParaRPr lang="fa-IR" sz="2400" dirty="0">
              <a:cs typeface="B Titr" panose="00000700000000000000" pitchFamily="2" charset="-78"/>
            </a:endParaRPr>
          </a:p>
          <a:p>
            <a:pPr marL="457200" indent="-4572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ar-IQ" sz="2400" b="1" dirty="0">
                <a:cs typeface="B Titr" panose="00000700000000000000" pitchFamily="2" charset="-78"/>
              </a:rPr>
              <a:t>مقادیر بهره</a:t>
            </a:r>
            <a:r>
              <a:rPr lang="en-US" sz="2400" b="1" dirty="0">
                <a:cs typeface="B Titr" panose="00000700000000000000" pitchFamily="2" charset="-78"/>
              </a:rPr>
              <a:t>K=20 </a:t>
            </a:r>
            <a:r>
              <a:rPr lang="fa-IR" sz="2400" b="1" dirty="0">
                <a:cs typeface="B Titr" panose="00000700000000000000" pitchFamily="2" charset="-78"/>
              </a:rPr>
              <a:t> </a:t>
            </a:r>
            <a:r>
              <a:rPr lang="ar-IQ" sz="2400" b="1" dirty="0">
                <a:cs typeface="B Titr" panose="00000700000000000000" pitchFamily="2" charset="-78"/>
              </a:rPr>
              <a:t>و ثابت زمانی </a:t>
            </a:r>
            <a:r>
              <a:rPr lang="en-US" sz="2400" b="1" dirty="0">
                <a:cs typeface="B Titr" panose="00000700000000000000" pitchFamily="2" charset="-78"/>
              </a:rPr>
              <a:t>T=200</a:t>
            </a:r>
            <a:r>
              <a:rPr lang="fa-IR" sz="2400" b="1" dirty="0">
                <a:cs typeface="B Titr" panose="00000700000000000000" pitchFamily="2" charset="-78"/>
              </a:rPr>
              <a:t> </a:t>
            </a:r>
            <a:r>
              <a:rPr lang="ar-IQ" sz="2400" b="1" dirty="0">
                <a:cs typeface="B Titr" panose="00000700000000000000" pitchFamily="2" charset="-78"/>
              </a:rPr>
              <a:t>ثانیه</a:t>
            </a:r>
            <a:endParaRPr lang="fa-IR" sz="2400" b="1" dirty="0">
              <a:cs typeface="B Titr" panose="00000700000000000000" pitchFamily="2" charset="-78"/>
            </a:endParaRPr>
          </a:p>
          <a:p>
            <a:pPr marL="457200" indent="-4572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2400" b="1" dirty="0">
                <a:cs typeface="B Titr" panose="00000700000000000000" pitchFamily="2" charset="-78"/>
              </a:rPr>
              <a:t>چرا همیشه معتبر نیست؟</a:t>
            </a:r>
            <a:endParaRPr lang="en-US" sz="2400" b="1" dirty="0">
              <a:cs typeface="B Titr" panose="00000700000000000000" pitchFamily="2" charset="-78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67" t="31570" r="41666" b="57656"/>
          <a:stretch/>
        </p:blipFill>
        <p:spPr>
          <a:xfrm>
            <a:off x="2133600" y="4254174"/>
            <a:ext cx="5448294" cy="19812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3434015" y="7458821"/>
            <a:ext cx="5924025" cy="4546689"/>
          </a:xfrm>
          <a:custGeom>
            <a:avLst/>
            <a:gdLst/>
            <a:ahLst/>
            <a:cxnLst/>
            <a:rect l="l" t="t" r="r" b="b"/>
            <a:pathLst>
              <a:path w="5924025" h="4546689">
                <a:moveTo>
                  <a:pt x="0" y="0"/>
                </a:moveTo>
                <a:lnTo>
                  <a:pt x="5924025" y="0"/>
                </a:lnTo>
                <a:lnTo>
                  <a:pt x="5924025" y="4546690"/>
                </a:lnTo>
                <a:lnTo>
                  <a:pt x="0" y="45466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261453" y="-505617"/>
            <a:ext cx="3486358" cy="4114800"/>
          </a:xfrm>
          <a:custGeom>
            <a:avLst/>
            <a:gdLst/>
            <a:ahLst/>
            <a:cxnLst/>
            <a:rect l="l" t="t" r="r" b="b"/>
            <a:pathLst>
              <a:path w="3486358" h="4114800">
                <a:moveTo>
                  <a:pt x="0" y="0"/>
                </a:moveTo>
                <a:lnTo>
                  <a:pt x="3486357" y="0"/>
                </a:lnTo>
                <a:lnTo>
                  <a:pt x="3486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047849" y="634361"/>
            <a:ext cx="7235371" cy="7886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ar-SA" sz="4000" dirty="0">
                <a:latin typeface="Calibri" panose="020F050202020403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تحلیل حلقه باز</a:t>
            </a:r>
            <a:endParaRPr lang="en-US" sz="4000" dirty="0">
              <a:solidFill>
                <a:srgbClr val="090147"/>
              </a:solidFill>
              <a:latin typeface="Bungee"/>
              <a:ea typeface="Bungee"/>
              <a:cs typeface="B Titr" panose="00000700000000000000" pitchFamily="2" charset="-78"/>
              <a:sym typeface="Bungee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623835" y="3563297"/>
            <a:ext cx="4083401" cy="33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endParaRPr lang="en-US" sz="1995" spc="21" dirty="0">
              <a:solidFill>
                <a:srgbClr val="FFFFFF"/>
              </a:solidFill>
              <a:latin typeface="Krub"/>
              <a:ea typeface="Krub"/>
              <a:cs typeface="Krub"/>
              <a:sym typeface="Krub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11680" y="2559502"/>
            <a:ext cx="8049773" cy="423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r" rtl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ar-SA" sz="2800" dirty="0">
                <a:cs typeface="B Titr" panose="00000700000000000000" pitchFamily="2" charset="-78"/>
              </a:rPr>
              <a:t>تحلیل پاسخ زمانی</a:t>
            </a:r>
            <a:endParaRPr lang="fa-IR" sz="2800" dirty="0">
              <a:cs typeface="B Titr" panose="00000700000000000000" pitchFamily="2" charset="-78"/>
            </a:endParaRPr>
          </a:p>
          <a:p>
            <a:pPr marL="457200" indent="-457200" algn="r" rtl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ar-SA" sz="2800" dirty="0">
                <a:latin typeface="Calibri" panose="020F050202020403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تفاوت پله کوچک و بزرگ در سیستم غیرخطی</a:t>
            </a:r>
            <a:r>
              <a:rPr lang="ar-IQ" sz="2800" b="1" dirty="0">
                <a:cs typeface="B Titr" panose="00000700000000000000" pitchFamily="2" charset="-78"/>
              </a:rPr>
              <a:t> </a:t>
            </a:r>
            <a:endParaRPr lang="fa-IR" sz="2800" b="1" dirty="0">
              <a:cs typeface="B Titr" panose="00000700000000000000" pitchFamily="2" charset="-78"/>
            </a:endParaRPr>
          </a:p>
          <a:p>
            <a:pPr marL="457200" indent="-457200" algn="r" rtl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ar-SA" sz="2800" dirty="0">
                <a:latin typeface="Calibri" panose="020F050202020403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تحلیل پاسخ‌های استاندارد</a:t>
            </a:r>
            <a:endParaRPr lang="fa-IR" sz="2800" dirty="0">
              <a:latin typeface="Calibri" panose="020F0502020204030204" pitchFamily="34" charset="0"/>
              <a:ea typeface="Calibri" panose="020F0502020204030204" pitchFamily="34" charset="0"/>
              <a:cs typeface="B Titr" panose="00000700000000000000" pitchFamily="2" charset="-78"/>
            </a:endParaRPr>
          </a:p>
          <a:p>
            <a:pPr marL="457200" indent="-457200" algn="r" rtl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ar-IQ" sz="2800" b="1" dirty="0">
                <a:cs typeface="B Titr" panose="00000700000000000000" pitchFamily="2" charset="-78"/>
              </a:rPr>
              <a:t>ساختار سیستم</a:t>
            </a:r>
            <a:endParaRPr lang="en-US" sz="2800" b="1" dirty="0">
              <a:cs typeface="B Titr" panose="00000700000000000000" pitchFamily="2" charset="-78"/>
            </a:endParaRPr>
          </a:p>
        </p:txBody>
      </p:sp>
      <p:pic>
        <p:nvPicPr>
          <p:cNvPr id="15" name="Picture 14"/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11"/>
          <a:stretch/>
        </p:blipFill>
        <p:spPr>
          <a:xfrm>
            <a:off x="990600" y="2597608"/>
            <a:ext cx="7469134" cy="524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772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-1978959" y="-1517198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447800" y="9078541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434015" y="7458821"/>
            <a:ext cx="5924025" cy="4546689"/>
          </a:xfrm>
          <a:custGeom>
            <a:avLst/>
            <a:gdLst/>
            <a:ahLst/>
            <a:cxnLst/>
            <a:rect l="l" t="t" r="r" b="b"/>
            <a:pathLst>
              <a:path w="5924025" h="4546689">
                <a:moveTo>
                  <a:pt x="0" y="0"/>
                </a:moveTo>
                <a:lnTo>
                  <a:pt x="5924025" y="0"/>
                </a:lnTo>
                <a:lnTo>
                  <a:pt x="5924025" y="4546690"/>
                </a:lnTo>
                <a:lnTo>
                  <a:pt x="0" y="45466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261453" y="-505617"/>
            <a:ext cx="3486358" cy="4114800"/>
          </a:xfrm>
          <a:custGeom>
            <a:avLst/>
            <a:gdLst/>
            <a:ahLst/>
            <a:cxnLst/>
            <a:rect l="l" t="t" r="r" b="b"/>
            <a:pathLst>
              <a:path w="3486358" h="4114800">
                <a:moveTo>
                  <a:pt x="0" y="0"/>
                </a:moveTo>
                <a:lnTo>
                  <a:pt x="3486357" y="0"/>
                </a:lnTo>
                <a:lnTo>
                  <a:pt x="3486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047849" y="634361"/>
            <a:ext cx="7235371" cy="7886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ar-SA" sz="4000" dirty="0">
                <a:latin typeface="Calibri" panose="020F050202020403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تحلیل حلقه باز</a:t>
            </a:r>
            <a:endParaRPr lang="en-US" sz="4000" dirty="0">
              <a:solidFill>
                <a:srgbClr val="090147"/>
              </a:solidFill>
              <a:latin typeface="Bungee"/>
              <a:ea typeface="Bungee"/>
              <a:cs typeface="B Titr" panose="00000700000000000000" pitchFamily="2" charset="-78"/>
              <a:sym typeface="Bungee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623835" y="3563297"/>
            <a:ext cx="4083401" cy="33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endParaRPr lang="en-US" sz="1995" spc="21" dirty="0">
              <a:solidFill>
                <a:srgbClr val="FFFFFF"/>
              </a:solidFill>
              <a:latin typeface="Krub"/>
              <a:ea typeface="Krub"/>
              <a:cs typeface="Krub"/>
              <a:sym typeface="Krub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11680" y="3152865"/>
            <a:ext cx="8049773" cy="423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r" rtl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ar-SA" sz="2800" dirty="0">
                <a:cs typeface="B Titr" panose="00000700000000000000" pitchFamily="2" charset="-78"/>
              </a:rPr>
              <a:t>تحلیل پاسخ زمانی</a:t>
            </a:r>
            <a:endParaRPr lang="fa-IR" sz="2800" dirty="0">
              <a:cs typeface="B Titr" panose="00000700000000000000" pitchFamily="2" charset="-78"/>
            </a:endParaRPr>
          </a:p>
          <a:p>
            <a:pPr marL="457200" indent="-457200" algn="r" rtl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ar-SA" sz="2800" dirty="0">
                <a:latin typeface="Calibri" panose="020F050202020403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تفاوت پله کوچک و بزرگ در سیستم غیرخطی</a:t>
            </a:r>
            <a:r>
              <a:rPr lang="ar-IQ" sz="2800" b="1" dirty="0">
                <a:cs typeface="B Titr" panose="00000700000000000000" pitchFamily="2" charset="-78"/>
              </a:rPr>
              <a:t> </a:t>
            </a:r>
            <a:endParaRPr lang="fa-IR" sz="2800" b="1" dirty="0">
              <a:cs typeface="B Titr" panose="00000700000000000000" pitchFamily="2" charset="-78"/>
            </a:endParaRPr>
          </a:p>
          <a:p>
            <a:pPr marL="457200" indent="-457200" algn="r" rtl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ar-SA" sz="2800" dirty="0">
                <a:latin typeface="Calibri" panose="020F050202020403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تحلیل پاسخ‌های استاندارد</a:t>
            </a:r>
            <a:endParaRPr lang="fa-IR" sz="2800" dirty="0">
              <a:latin typeface="Calibri" panose="020F0502020204030204" pitchFamily="34" charset="0"/>
              <a:ea typeface="Calibri" panose="020F0502020204030204" pitchFamily="34" charset="0"/>
              <a:cs typeface="B Titr" panose="00000700000000000000" pitchFamily="2" charset="-78"/>
            </a:endParaRPr>
          </a:p>
          <a:p>
            <a:pPr marL="457200" indent="-457200" algn="r" rtl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ar-IQ" sz="2800" b="1" dirty="0">
                <a:cs typeface="B Titr" panose="00000700000000000000" pitchFamily="2" charset="-78"/>
              </a:rPr>
              <a:t>ساختار سیستم</a:t>
            </a:r>
            <a:endParaRPr lang="en-US" sz="2800" b="1" dirty="0">
              <a:cs typeface="B Titr" panose="00000700000000000000" pitchFamily="2" charset="-7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35"/>
          <a:stretch/>
        </p:blipFill>
        <p:spPr>
          <a:xfrm>
            <a:off x="685800" y="2614721"/>
            <a:ext cx="8397904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89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-2078885" y="-10287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90600" y="8288998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434015" y="7458821"/>
            <a:ext cx="5924025" cy="4546689"/>
          </a:xfrm>
          <a:custGeom>
            <a:avLst/>
            <a:gdLst/>
            <a:ahLst/>
            <a:cxnLst/>
            <a:rect l="l" t="t" r="r" b="b"/>
            <a:pathLst>
              <a:path w="5924025" h="4546689">
                <a:moveTo>
                  <a:pt x="0" y="0"/>
                </a:moveTo>
                <a:lnTo>
                  <a:pt x="5924025" y="0"/>
                </a:lnTo>
                <a:lnTo>
                  <a:pt x="5924025" y="4546690"/>
                </a:lnTo>
                <a:lnTo>
                  <a:pt x="0" y="45466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261453" y="-505617"/>
            <a:ext cx="3486358" cy="4114800"/>
          </a:xfrm>
          <a:custGeom>
            <a:avLst/>
            <a:gdLst/>
            <a:ahLst/>
            <a:cxnLst/>
            <a:rect l="l" t="t" r="r" b="b"/>
            <a:pathLst>
              <a:path w="3486358" h="4114800">
                <a:moveTo>
                  <a:pt x="0" y="0"/>
                </a:moveTo>
                <a:lnTo>
                  <a:pt x="3486357" y="0"/>
                </a:lnTo>
                <a:lnTo>
                  <a:pt x="3486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054774" y="634361"/>
            <a:ext cx="7235371" cy="7886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ar-SA" sz="4000" dirty="0">
                <a:latin typeface="Calibri" panose="020F050202020403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تحلیل پایداری </a:t>
            </a:r>
            <a:endParaRPr lang="en-US" sz="4000" dirty="0">
              <a:solidFill>
                <a:srgbClr val="090147"/>
              </a:solidFill>
              <a:latin typeface="Bungee"/>
              <a:ea typeface="Bungee"/>
              <a:cs typeface="B Titr" panose="00000700000000000000" pitchFamily="2" charset="-78"/>
              <a:sym typeface="Bungee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623835" y="3563297"/>
            <a:ext cx="4083401" cy="33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endParaRPr lang="en-US" sz="1995" spc="21" dirty="0">
              <a:solidFill>
                <a:srgbClr val="FFFFFF"/>
              </a:solidFill>
              <a:latin typeface="Krub"/>
              <a:ea typeface="Krub"/>
              <a:cs typeface="Krub"/>
              <a:sym typeface="Krub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0" y="3086100"/>
            <a:ext cx="8049773" cy="343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ar-SA" sz="2800" dirty="0">
                <a:latin typeface="Calibri" panose="020F050202020403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پایداری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 BIBO</a:t>
            </a:r>
            <a:r>
              <a:rPr lang="ar-IQ" sz="2800" dirty="0">
                <a:cs typeface="B Titr" panose="00000700000000000000" pitchFamily="2" charset="-78"/>
              </a:rPr>
              <a:t> </a:t>
            </a:r>
            <a:endParaRPr lang="fa-IR" sz="2800" dirty="0">
              <a:cs typeface="B Titr" panose="00000700000000000000" pitchFamily="2" charset="-78"/>
            </a:endParaRPr>
          </a:p>
          <a:p>
            <a:pPr marL="457200" indent="-4572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2800" dirty="0">
                <a:cs typeface="B Titr" panose="00000700000000000000" pitchFamily="2" charset="-78"/>
              </a:rPr>
              <a:t>معیار پایداری راث-هرویتز</a:t>
            </a:r>
          </a:p>
          <a:p>
            <a:pPr marL="457200" indent="-4572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ar-SA" sz="2800" dirty="0">
                <a:latin typeface="Calibri" panose="020F050202020403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تحلیل محل قطب‌ها و صفرها</a:t>
            </a:r>
            <a:endParaRPr lang="fa-IR" sz="2800" dirty="0">
              <a:latin typeface="Calibri" panose="020F0502020204030204" pitchFamily="34" charset="0"/>
              <a:ea typeface="Calibri" panose="020F0502020204030204" pitchFamily="34" charset="0"/>
              <a:cs typeface="B Titr" panose="00000700000000000000" pitchFamily="2" charset="-78"/>
            </a:endParaRPr>
          </a:p>
          <a:p>
            <a:pPr marL="457200" indent="-4572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2800" dirty="0">
                <a:cs typeface="B Titr" panose="00000700000000000000" pitchFamily="2" charset="-78"/>
              </a:rPr>
              <a:t>تحلیل رفتار غیرخطی و ناپایداری</a:t>
            </a:r>
          </a:p>
        </p:txBody>
      </p:sp>
      <p:pic>
        <p:nvPicPr>
          <p:cNvPr id="14" name="Picture 13"/>
          <p:cNvPicPr/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01"/>
          <a:stretch/>
        </p:blipFill>
        <p:spPr>
          <a:xfrm>
            <a:off x="1816969" y="2442896"/>
            <a:ext cx="7318420" cy="584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5500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-2078885" y="-10287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828710" y="822960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434015" y="7458821"/>
            <a:ext cx="5924025" cy="4546689"/>
          </a:xfrm>
          <a:custGeom>
            <a:avLst/>
            <a:gdLst/>
            <a:ahLst/>
            <a:cxnLst/>
            <a:rect l="l" t="t" r="r" b="b"/>
            <a:pathLst>
              <a:path w="5924025" h="4546689">
                <a:moveTo>
                  <a:pt x="0" y="0"/>
                </a:moveTo>
                <a:lnTo>
                  <a:pt x="5924025" y="0"/>
                </a:lnTo>
                <a:lnTo>
                  <a:pt x="5924025" y="4546690"/>
                </a:lnTo>
                <a:lnTo>
                  <a:pt x="0" y="45466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261453" y="-505617"/>
            <a:ext cx="3486358" cy="4114800"/>
          </a:xfrm>
          <a:custGeom>
            <a:avLst/>
            <a:gdLst/>
            <a:ahLst/>
            <a:cxnLst/>
            <a:rect l="l" t="t" r="r" b="b"/>
            <a:pathLst>
              <a:path w="3486358" h="4114800">
                <a:moveTo>
                  <a:pt x="0" y="0"/>
                </a:moveTo>
                <a:lnTo>
                  <a:pt x="3486357" y="0"/>
                </a:lnTo>
                <a:lnTo>
                  <a:pt x="3486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047848" y="1117559"/>
            <a:ext cx="7235371" cy="7886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ar-SA" sz="4000" dirty="0">
                <a:latin typeface="Calibri" panose="020F050202020403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تحلیل در حوزه فرکانس</a:t>
            </a:r>
            <a:endParaRPr lang="en-US" sz="4000" dirty="0">
              <a:solidFill>
                <a:srgbClr val="090147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623835" y="3563297"/>
            <a:ext cx="4083401" cy="33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endParaRPr lang="en-US" sz="1995" spc="21" dirty="0">
              <a:solidFill>
                <a:srgbClr val="FFFFFF"/>
              </a:solidFill>
              <a:latin typeface="Krub"/>
              <a:ea typeface="Krub"/>
              <a:cs typeface="Krub"/>
              <a:sym typeface="Krub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55493" y="3565976"/>
            <a:ext cx="8049773" cy="220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ar-IQ" sz="2400" b="1" dirty="0">
                <a:cs typeface="B Titr" panose="00000700000000000000" pitchFamily="2" charset="-78"/>
              </a:rPr>
              <a:t>نمودار بود و نایکویست </a:t>
            </a:r>
            <a:endParaRPr lang="fa-IR" sz="2400" b="1" dirty="0">
              <a:cs typeface="B Titr" panose="00000700000000000000" pitchFamily="2" charset="-78"/>
            </a:endParaRPr>
          </a:p>
          <a:p>
            <a:pPr marL="457200" indent="-4572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ar-IQ" sz="2400" b="1" dirty="0">
                <a:cs typeface="B Titr" panose="00000700000000000000" pitchFamily="2" charset="-78"/>
              </a:rPr>
              <a:t>تحلیل نمودار بود </a:t>
            </a:r>
            <a:endParaRPr lang="fa-IR" sz="2400" b="1" dirty="0">
              <a:cs typeface="B Titr" panose="00000700000000000000" pitchFamily="2" charset="-78"/>
            </a:endParaRPr>
          </a:p>
          <a:p>
            <a:pPr marL="457200" indent="-4572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ar-IQ" sz="2400" b="1" dirty="0">
                <a:cs typeface="B Titr" panose="00000700000000000000" pitchFamily="2" charset="-78"/>
              </a:rPr>
              <a:t>تحلیل نمودار نایکوئیست</a:t>
            </a:r>
            <a:endParaRPr lang="en-US" sz="2400" b="1" dirty="0">
              <a:cs typeface="B Titr" panose="00000700000000000000" pitchFamily="2" charset="-78"/>
            </a:endParaRPr>
          </a:p>
        </p:txBody>
      </p:sp>
      <p:pic>
        <p:nvPicPr>
          <p:cNvPr id="14" name="Picture 13"/>
          <p:cNvPicPr/>
          <p:nvPr/>
        </p:nvPicPr>
        <p:blipFill rotWithShape="1">
          <a:blip r:embed="rId9"/>
          <a:srcRect t="18811"/>
          <a:stretch/>
        </p:blipFill>
        <p:spPr>
          <a:xfrm>
            <a:off x="381000" y="3307772"/>
            <a:ext cx="11352671" cy="463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7638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3322701" y="2057400"/>
            <a:ext cx="4464558" cy="8229600"/>
          </a:xfrm>
          <a:custGeom>
            <a:avLst/>
            <a:gdLst/>
            <a:ahLst/>
            <a:cxnLst/>
            <a:rect l="l" t="t" r="r" b="b"/>
            <a:pathLst>
              <a:path w="4464558" h="8229600">
                <a:moveTo>
                  <a:pt x="0" y="0"/>
                </a:moveTo>
                <a:lnTo>
                  <a:pt x="4464558" y="0"/>
                </a:lnTo>
                <a:lnTo>
                  <a:pt x="446455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2078885" y="-10287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828710" y="822960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979081" y="810827"/>
            <a:ext cx="8641686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ar-SA" sz="4800" b="1" dirty="0">
                <a:cs typeface="B Titr" panose="00000700000000000000" pitchFamily="2" charset="-78"/>
              </a:rPr>
              <a:t>طراحی جبران ساز و تنظیم پاسخ زمانی</a:t>
            </a:r>
            <a:endParaRPr lang="en-US" sz="6846" dirty="0">
              <a:solidFill>
                <a:srgbClr val="090147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327274" y="2259382"/>
            <a:ext cx="9689741" cy="1579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r" rtl="1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ar-SA" sz="2400" kern="100" dirty="0">
                <a:latin typeface="Calibri" panose="020F050202020403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چرا کنترل‌کننده تناسبی (</a:t>
            </a:r>
            <a:r>
              <a:rPr lang="en-US" sz="2400" kern="100" dirty="0">
                <a:latin typeface="Calibri" panose="020F050202020403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P</a:t>
            </a:r>
            <a:r>
              <a:rPr lang="ar-SA" sz="2400" kern="100" dirty="0">
                <a:latin typeface="Calibri" panose="020F050202020403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) نه؟</a:t>
            </a:r>
            <a:endParaRPr lang="fa-IR" sz="2400" kern="100" dirty="0">
              <a:latin typeface="Calibri" panose="020F0502020204030204" pitchFamily="34" charset="0"/>
              <a:ea typeface="Calibri" panose="020F0502020204030204" pitchFamily="34" charset="0"/>
              <a:cs typeface="B Titr" panose="00000700000000000000" pitchFamily="2" charset="-78"/>
            </a:endParaRPr>
          </a:p>
          <a:p>
            <a:pPr marL="342900" indent="-342900" algn="r" rtl="1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ar-SA" sz="2400" kern="100" dirty="0">
                <a:latin typeface="Calibri" panose="020F050202020403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 </a:t>
            </a:r>
            <a:r>
              <a:rPr lang="ar-SA" sz="2400" dirty="0">
                <a:cs typeface="B Titr" panose="00000700000000000000" pitchFamily="2" charset="-78"/>
              </a:rPr>
              <a:t>چرا کنترل‌کننده</a:t>
            </a:r>
            <a:r>
              <a:rPr lang="en-US" sz="2400" dirty="0">
                <a:cs typeface="B Titr" panose="00000700000000000000" pitchFamily="2" charset="-78"/>
              </a:rPr>
              <a:t> </a:t>
            </a:r>
            <a:r>
              <a:rPr lang="en-US" sz="2400" b="1" dirty="0">
                <a:cs typeface="B Titr" panose="00000700000000000000" pitchFamily="2" charset="-78"/>
              </a:rPr>
              <a:t>PD</a:t>
            </a:r>
            <a:r>
              <a:rPr lang="en-US" sz="2400" dirty="0">
                <a:cs typeface="B Titr" panose="00000700000000000000" pitchFamily="2" charset="-78"/>
              </a:rPr>
              <a:t> </a:t>
            </a:r>
            <a:r>
              <a:rPr lang="ar-SA" sz="2400" dirty="0">
                <a:cs typeface="B Titr" panose="00000700000000000000" pitchFamily="2" charset="-78"/>
              </a:rPr>
              <a:t>(تناسبی-مشتق‌گیر) انتخاب نشد؟</a:t>
            </a:r>
            <a:endParaRPr lang="fa-IR" sz="2400" kern="100" dirty="0">
              <a:latin typeface="Calibri" panose="020F0502020204030204" pitchFamily="34" charset="0"/>
              <a:ea typeface="Calibri" panose="020F0502020204030204" pitchFamily="34" charset="0"/>
              <a:cs typeface="B Titr" panose="00000700000000000000" pitchFamily="2" charset="-78"/>
            </a:endParaRPr>
          </a:p>
        </p:txBody>
      </p:sp>
      <p:sp>
        <p:nvSpPr>
          <p:cNvPr id="14" name="Freeform 14"/>
          <p:cNvSpPr/>
          <p:nvPr/>
        </p:nvSpPr>
        <p:spPr>
          <a:xfrm flipH="1" flipV="1">
            <a:off x="11606912" y="-134353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pic>
        <p:nvPicPr>
          <p:cNvPr id="15" name="Picture 14"/>
          <p:cNvPicPr/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23" t="10287" r="6791" b="26711"/>
          <a:stretch/>
        </p:blipFill>
        <p:spPr>
          <a:xfrm>
            <a:off x="3625607" y="4063294"/>
            <a:ext cx="8839200" cy="4648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3322701" y="2057400"/>
            <a:ext cx="4464558" cy="8229600"/>
          </a:xfrm>
          <a:custGeom>
            <a:avLst/>
            <a:gdLst/>
            <a:ahLst/>
            <a:cxnLst/>
            <a:rect l="l" t="t" r="r" b="b"/>
            <a:pathLst>
              <a:path w="4464558" h="8229600">
                <a:moveTo>
                  <a:pt x="0" y="0"/>
                </a:moveTo>
                <a:lnTo>
                  <a:pt x="4464558" y="0"/>
                </a:lnTo>
                <a:lnTo>
                  <a:pt x="446455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2078885" y="-10287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699334" y="1205332"/>
            <a:ext cx="8641686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ar-SA" sz="4800" b="1" dirty="0">
                <a:cs typeface="B Titr" panose="00000700000000000000" pitchFamily="2" charset="-78"/>
              </a:rPr>
              <a:t>طراحی جبران ساز و تنظیم پاسخ زمانی</a:t>
            </a:r>
            <a:endParaRPr lang="en-US" sz="6846" dirty="0">
              <a:solidFill>
                <a:srgbClr val="090147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175306" y="2623785"/>
            <a:ext cx="9689741" cy="2739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ct val="250000"/>
              </a:lnSpc>
            </a:pPr>
            <a:r>
              <a:rPr lang="ar-SA" sz="2400" dirty="0">
                <a:cs typeface="B Titr" panose="00000700000000000000" pitchFamily="2" charset="-78"/>
              </a:rPr>
              <a:t>چرا کنترل‌کننده </a:t>
            </a:r>
            <a:r>
              <a:rPr lang="en-US" sz="2400" b="1" dirty="0">
                <a:cs typeface="B Titr" panose="00000700000000000000" pitchFamily="2" charset="-78"/>
              </a:rPr>
              <a:t>PID</a:t>
            </a:r>
            <a:r>
              <a:rPr lang="ar-SA" sz="2400" dirty="0">
                <a:cs typeface="B Titr" panose="00000700000000000000" pitchFamily="2" charset="-78"/>
              </a:rPr>
              <a:t> نه؟ </a:t>
            </a:r>
            <a:endParaRPr lang="en-US" sz="2400" dirty="0">
              <a:cs typeface="B Titr" panose="00000700000000000000" pitchFamily="2" charset="-78"/>
            </a:endParaRPr>
          </a:p>
          <a:p>
            <a:pPr algn="r" rtl="1">
              <a:lnSpc>
                <a:spcPct val="250000"/>
              </a:lnSpc>
            </a:pPr>
            <a:r>
              <a:rPr lang="ar-SA" sz="2400" dirty="0">
                <a:cs typeface="B Titr" panose="00000700000000000000" pitchFamily="2" charset="-78"/>
              </a:rPr>
              <a:t>انتخاب نهایی کنترل‌کننده </a:t>
            </a:r>
            <a:r>
              <a:rPr lang="en-US" sz="2800" b="1" dirty="0">
                <a:cs typeface="B Titr" panose="00000700000000000000" pitchFamily="2" charset="-78"/>
              </a:rPr>
              <a:t>PI</a:t>
            </a:r>
          </a:p>
          <a:p>
            <a:pPr marL="342900" indent="-342900" algn="r" rtl="1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fa-IR" sz="2400" kern="100" dirty="0">
              <a:latin typeface="Calibri" panose="020F0502020204030204" pitchFamily="34" charset="0"/>
              <a:ea typeface="Calibri" panose="020F0502020204030204" pitchFamily="34" charset="0"/>
              <a:cs typeface="B Titr" panose="00000700000000000000" pitchFamily="2" charset="-78"/>
            </a:endParaRPr>
          </a:p>
        </p:txBody>
      </p:sp>
      <p:sp>
        <p:nvSpPr>
          <p:cNvPr id="14" name="Freeform 14"/>
          <p:cNvSpPr/>
          <p:nvPr/>
        </p:nvSpPr>
        <p:spPr>
          <a:xfrm flipH="1" flipV="1">
            <a:off x="11606912" y="-134353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2587" y="3088915"/>
            <a:ext cx="7577137" cy="551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2091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-2078885" y="-10287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828710" y="822960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696525" y="-50561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939855" y="6204779"/>
            <a:ext cx="7075330" cy="6818045"/>
          </a:xfrm>
          <a:custGeom>
            <a:avLst/>
            <a:gdLst/>
            <a:ahLst/>
            <a:cxnLst/>
            <a:rect l="l" t="t" r="r" b="b"/>
            <a:pathLst>
              <a:path w="7075330" h="6818045">
                <a:moveTo>
                  <a:pt x="0" y="0"/>
                </a:moveTo>
                <a:lnTo>
                  <a:pt x="7075330" y="0"/>
                </a:lnTo>
                <a:lnTo>
                  <a:pt x="7075330" y="6818045"/>
                </a:lnTo>
                <a:lnTo>
                  <a:pt x="0" y="68180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740216" y="1128590"/>
            <a:ext cx="8683170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ar-SA" sz="4800" dirty="0">
                <a:latin typeface="Calibri" panose="020F050202020403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تحلیل اثر نویز و اغتشاش</a:t>
            </a:r>
            <a:endParaRPr lang="en-US" sz="4800" dirty="0">
              <a:solidFill>
                <a:srgbClr val="090147"/>
              </a:solidFill>
              <a:latin typeface="Bungee"/>
              <a:ea typeface="Bungee"/>
              <a:cs typeface="B Titr" panose="00000700000000000000" pitchFamily="2" charset="-78"/>
              <a:sym typeface="Bungee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0" y="3061855"/>
            <a:ext cx="8291655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ar-SA" sz="2400" dirty="0">
                <a:cs typeface="B Titr" panose="00000700000000000000" pitchFamily="2" charset="-78"/>
              </a:rPr>
              <a:t>تحلیل خطای حالت ماندگار</a:t>
            </a:r>
            <a:endParaRPr lang="fa-IR" sz="2400" dirty="0">
              <a:cs typeface="B Titr" panose="00000700000000000000" pitchFamily="2" charset="-78"/>
            </a:endParaRPr>
          </a:p>
          <a:p>
            <a:pPr algn="r">
              <a:lnSpc>
                <a:spcPct val="200000"/>
              </a:lnSpc>
            </a:pPr>
            <a:r>
              <a:rPr lang="ar-SA" sz="2400" dirty="0">
                <a:cs typeface="B Titr" panose="00000700000000000000" pitchFamily="2" charset="-78"/>
              </a:rPr>
              <a:t>پدیده اشباع عملگر</a:t>
            </a:r>
            <a:endParaRPr lang="fa-IR" sz="2400" dirty="0">
              <a:cs typeface="B Titr" panose="00000700000000000000" pitchFamily="2" charset="-78"/>
            </a:endParaRPr>
          </a:p>
          <a:p>
            <a:pPr algn="r">
              <a:lnSpc>
                <a:spcPct val="200000"/>
              </a:lnSpc>
            </a:pPr>
            <a:r>
              <a:rPr lang="ar-SA" sz="2400" dirty="0">
                <a:cs typeface="B Titr" panose="00000700000000000000" pitchFamily="2" charset="-78"/>
              </a:rPr>
              <a:t>تحلیل تفکیکی اثر نویز و اغتشاش بر پاسخ سیستم</a:t>
            </a:r>
            <a:endParaRPr lang="fa-IR" sz="2400" dirty="0">
              <a:cs typeface="B Titr" panose="00000700000000000000" pitchFamily="2" charset="-78"/>
            </a:endParaRPr>
          </a:p>
          <a:p>
            <a:pPr algn="r">
              <a:lnSpc>
                <a:spcPct val="200000"/>
              </a:lnSpc>
            </a:pPr>
            <a:r>
              <a:rPr lang="ar-SA" sz="2400" dirty="0">
                <a:cs typeface="B Titr" panose="00000700000000000000" pitchFamily="2" charset="-78"/>
              </a:rPr>
              <a:t>نقطه تعادل جدید</a:t>
            </a:r>
            <a:endParaRPr lang="fa-IR" sz="2400" dirty="0">
              <a:cs typeface="B Titr" panose="00000700000000000000" pitchFamily="2" charset="-78"/>
            </a:endParaRPr>
          </a:p>
          <a:p>
            <a:pPr algn="r">
              <a:lnSpc>
                <a:spcPct val="200000"/>
              </a:lnSpc>
            </a:pPr>
            <a:r>
              <a:rPr lang="ar-SA" sz="2400" dirty="0">
                <a:cs typeface="B Titr" panose="00000700000000000000" pitchFamily="2" charset="-78"/>
              </a:rPr>
              <a:t>ثابت زمانی پر شدن و خالی شدن تانکر آب یک ثانیه</a:t>
            </a:r>
            <a:endParaRPr lang="fa-IR" sz="2400" dirty="0">
              <a:cs typeface="B Titr" panose="00000700000000000000" pitchFamily="2" charset="-78"/>
            </a:endParaRPr>
          </a:p>
          <a:p>
            <a:pPr algn="r"/>
            <a:endParaRPr lang="en-US" dirty="0">
              <a:cs typeface="B Titr" panose="00000700000000000000" pitchFamily="2" charset="-78"/>
            </a:endParaRPr>
          </a:p>
        </p:txBody>
      </p:sp>
      <p:pic>
        <p:nvPicPr>
          <p:cNvPr id="17" name="Picture 16"/>
          <p:cNvPicPr/>
          <p:nvPr/>
        </p:nvPicPr>
        <p:blipFill>
          <a:blip r:embed="rId10"/>
          <a:stretch>
            <a:fillRect/>
          </a:stretch>
        </p:blipFill>
        <p:spPr>
          <a:xfrm>
            <a:off x="457200" y="3467100"/>
            <a:ext cx="8338808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1087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-2078885" y="-10287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828710" y="822960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696525" y="-50561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939855" y="6204779"/>
            <a:ext cx="7075330" cy="6818045"/>
          </a:xfrm>
          <a:custGeom>
            <a:avLst/>
            <a:gdLst/>
            <a:ahLst/>
            <a:cxnLst/>
            <a:rect l="l" t="t" r="r" b="b"/>
            <a:pathLst>
              <a:path w="7075330" h="6818045">
                <a:moveTo>
                  <a:pt x="0" y="0"/>
                </a:moveTo>
                <a:lnTo>
                  <a:pt x="7075330" y="0"/>
                </a:lnTo>
                <a:lnTo>
                  <a:pt x="7075330" y="6818045"/>
                </a:lnTo>
                <a:lnTo>
                  <a:pt x="0" y="68180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223329" y="763106"/>
            <a:ext cx="6545941" cy="788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fa-IR" sz="4000" dirty="0">
                <a:solidFill>
                  <a:srgbClr val="090147"/>
                </a:solidFill>
                <a:latin typeface="Bungee"/>
                <a:ea typeface="Bungee"/>
                <a:cs typeface="B Titr" panose="00000700000000000000" pitchFamily="2" charset="-78"/>
                <a:sym typeface="Bungee"/>
              </a:rPr>
              <a:t>نهایی پروژه </a:t>
            </a:r>
            <a:r>
              <a:rPr lang="en-US" sz="4000" dirty="0">
                <a:solidFill>
                  <a:srgbClr val="090147"/>
                </a:solidFill>
                <a:latin typeface="Bungee"/>
                <a:ea typeface="Bungee"/>
                <a:cs typeface="B Titr" panose="00000700000000000000" pitchFamily="2" charset="-78"/>
                <a:sym typeface="Bungee"/>
              </a:rPr>
              <a:t> GUI</a:t>
            </a:r>
          </a:p>
        </p:txBody>
      </p:sp>
      <p:pic>
        <p:nvPicPr>
          <p:cNvPr id="16" name="InShot_20260214_19361162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3581399" y="1714500"/>
            <a:ext cx="9829800" cy="746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0322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685800" y="-7239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29" y="0"/>
                </a:lnTo>
                <a:lnTo>
                  <a:pt x="40624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208884" y="7041092"/>
            <a:ext cx="5174922" cy="5172766"/>
          </a:xfrm>
          <a:custGeom>
            <a:avLst/>
            <a:gdLst/>
            <a:ahLst/>
            <a:cxnLst/>
            <a:rect l="l" t="t" r="r" b="b"/>
            <a:pathLst>
              <a:path w="5174922" h="5172766">
                <a:moveTo>
                  <a:pt x="0" y="0"/>
                </a:moveTo>
                <a:lnTo>
                  <a:pt x="5174923" y="0"/>
                </a:lnTo>
                <a:lnTo>
                  <a:pt x="5174923" y="5172766"/>
                </a:lnTo>
                <a:lnTo>
                  <a:pt x="0" y="51727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322918" y="4783378"/>
            <a:ext cx="6733446" cy="7030847"/>
          </a:xfrm>
          <a:custGeom>
            <a:avLst/>
            <a:gdLst/>
            <a:ahLst/>
            <a:cxnLst/>
            <a:rect l="l" t="t" r="r" b="b"/>
            <a:pathLst>
              <a:path w="6733446" h="7030847">
                <a:moveTo>
                  <a:pt x="0" y="0"/>
                </a:moveTo>
                <a:lnTo>
                  <a:pt x="6733447" y="0"/>
                </a:lnTo>
                <a:lnTo>
                  <a:pt x="6733447" y="7030846"/>
                </a:lnTo>
                <a:lnTo>
                  <a:pt x="0" y="70308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882600" y="-1557683"/>
            <a:ext cx="5174922" cy="5172766"/>
          </a:xfrm>
          <a:custGeom>
            <a:avLst/>
            <a:gdLst/>
            <a:ahLst/>
            <a:cxnLst/>
            <a:rect l="l" t="t" r="r" b="b"/>
            <a:pathLst>
              <a:path w="5174922" h="5172766">
                <a:moveTo>
                  <a:pt x="0" y="0"/>
                </a:moveTo>
                <a:lnTo>
                  <a:pt x="5174922" y="0"/>
                </a:lnTo>
                <a:lnTo>
                  <a:pt x="5174922" y="5172766"/>
                </a:lnTo>
                <a:lnTo>
                  <a:pt x="0" y="51727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300712" y="-1889926"/>
            <a:ext cx="4420195" cy="4114800"/>
          </a:xfrm>
          <a:custGeom>
            <a:avLst/>
            <a:gdLst/>
            <a:ahLst/>
            <a:cxnLst/>
            <a:rect l="l" t="t" r="r" b="b"/>
            <a:pathLst>
              <a:path w="4420195" h="4114800">
                <a:moveTo>
                  <a:pt x="0" y="0"/>
                </a:moveTo>
                <a:lnTo>
                  <a:pt x="4420195" y="0"/>
                </a:lnTo>
                <a:lnTo>
                  <a:pt x="44201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6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321493">
            <a:off x="6300712" y="8352127"/>
            <a:ext cx="4420195" cy="4114800"/>
          </a:xfrm>
          <a:custGeom>
            <a:avLst/>
            <a:gdLst/>
            <a:ahLst/>
            <a:cxnLst/>
            <a:rect l="l" t="t" r="r" b="b"/>
            <a:pathLst>
              <a:path w="4420195" h="4114800">
                <a:moveTo>
                  <a:pt x="0" y="0"/>
                </a:moveTo>
                <a:lnTo>
                  <a:pt x="4420195" y="0"/>
                </a:lnTo>
                <a:lnTo>
                  <a:pt x="44201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6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2"/>
          <p:cNvSpPr txBox="1"/>
          <p:nvPr/>
        </p:nvSpPr>
        <p:spPr>
          <a:xfrm>
            <a:off x="3752545" y="4401353"/>
            <a:ext cx="10517519" cy="911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fa-IR" sz="7200" dirty="0">
                <a:solidFill>
                  <a:srgbClr val="090147"/>
                </a:solidFill>
                <a:latin typeface="Bungee"/>
                <a:ea typeface="Bungee"/>
                <a:cs typeface="B Titr" panose="00000700000000000000" pitchFamily="2" charset="-78"/>
                <a:sym typeface="Bungee"/>
              </a:rPr>
              <a:t>با تشکر از توجه شما</a:t>
            </a:r>
            <a:endParaRPr lang="en-US" sz="7200" dirty="0">
              <a:solidFill>
                <a:srgbClr val="090147"/>
              </a:solidFill>
              <a:latin typeface="Bungee"/>
              <a:ea typeface="Bungee"/>
              <a:cs typeface="B Titr" panose="00000700000000000000" pitchFamily="2" charset="-78"/>
              <a:sym typeface="Bunge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270</Words>
  <Application>Microsoft Office PowerPoint</Application>
  <PresentationFormat>Custom</PresentationFormat>
  <Paragraphs>55</Paragraphs>
  <Slides>13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Krub</vt:lpstr>
      <vt:lpstr>B Titr</vt:lpstr>
      <vt:lpstr>Calibri</vt:lpstr>
      <vt:lpstr>Krub Bold</vt:lpstr>
      <vt:lpstr>Bungee</vt:lpstr>
      <vt:lpstr>Cambria Math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Engineering Technology Group Project Presentation</dc:title>
  <dc:creator>ASUS</dc:creator>
  <cp:lastModifiedBy>mamad</cp:lastModifiedBy>
  <cp:revision>21</cp:revision>
  <dcterms:created xsi:type="dcterms:W3CDTF">2006-08-16T00:00:00Z</dcterms:created>
  <dcterms:modified xsi:type="dcterms:W3CDTF">2026-02-14T17:25:32Z</dcterms:modified>
  <dc:identifier>DAHBTbp739I</dc:identifier>
</cp:coreProperties>
</file>